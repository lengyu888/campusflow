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914400"/>
            <a:ext cx="3200400" cy="3200400"/>
          </a:xfrm>
          <a:prstGeom prst="arc">
            <a:avLst/>
          </a:prstGeom>
          <a:solidFill>
            <a:srgbClr val="0C1426">
              <a:alpha val="0"/>
            </a:srgbClr>
          </a:solidFill>
          <a:ln w="15240">
            <a:solidFill>
              <a:srgbClr val="D81E3A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88352" y="1115568"/>
            <a:ext cx="3063240" cy="3063240"/>
          </a:xfrm>
          <a:prstGeom prst="arc">
            <a:avLst/>
          </a:prstGeom>
          <a:solidFill>
            <a:srgbClr val="0C1426">
              <a:alpha val="0"/>
            </a:srgbClr>
          </a:solidFill>
          <a:ln w="15240">
            <a:solidFill>
              <a:srgbClr val="334663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2984" y="914400"/>
            <a:ext cx="2926080" cy="2926080"/>
          </a:xfrm>
          <a:prstGeom prst="arc">
            <a:avLst/>
          </a:prstGeom>
          <a:solidFill>
            <a:srgbClr val="0C1426">
              <a:alpha val="0"/>
            </a:srgbClr>
          </a:solidFill>
          <a:ln w="15240">
            <a:solidFill>
              <a:srgbClr val="33466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1115568"/>
            <a:ext cx="2788920" cy="2788920"/>
          </a:xfrm>
          <a:prstGeom prst="arc">
            <a:avLst/>
          </a:prstGeom>
          <a:solidFill>
            <a:srgbClr val="0C1426">
              <a:alpha val="0"/>
            </a:srgbClr>
          </a:solidFill>
          <a:ln w="15240">
            <a:solidFill>
              <a:srgbClr val="D81E3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42248" y="914400"/>
            <a:ext cx="2651760" cy="2651760"/>
          </a:xfrm>
          <a:prstGeom prst="arc">
            <a:avLst/>
          </a:prstGeom>
          <a:solidFill>
            <a:srgbClr val="0C1426">
              <a:alpha val="0"/>
            </a:srgbClr>
          </a:solidFill>
          <a:ln w="15240">
            <a:solidFill>
              <a:srgbClr val="334663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1115568"/>
            <a:ext cx="2514600" cy="2514600"/>
          </a:xfrm>
          <a:prstGeom prst="arc">
            <a:avLst/>
          </a:prstGeom>
          <a:solidFill>
            <a:srgbClr val="0C1426">
              <a:alpha val="0"/>
            </a:srgbClr>
          </a:solidFill>
          <a:ln w="15240">
            <a:solidFill>
              <a:srgbClr val="334663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11512" y="914400"/>
            <a:ext cx="2377440" cy="2377440"/>
          </a:xfrm>
          <a:prstGeom prst="arc">
            <a:avLst/>
          </a:prstGeom>
          <a:solidFill>
            <a:srgbClr val="0C1426">
              <a:alpha val="0"/>
            </a:srgbClr>
          </a:solidFill>
          <a:ln w="15240">
            <a:solidFill>
              <a:srgbClr val="D81E3A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2267712"/>
            <a:ext cx="987552" cy="987552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2276856"/>
            <a:ext cx="9875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498080" y="4160520"/>
            <a:ext cx="475488" cy="475488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3822192"/>
            <a:ext cx="310896" cy="310896"/>
          </a:xfrm>
          <a:prstGeom prst="ellipse">
            <a:avLst/>
          </a:prstGeom>
          <a:solidFill>
            <a:srgbClr val="F3A83B"/>
          </a:solidFill>
          <a:ln w="1270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40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F18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 · 跨端 AI AGENT 项目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4173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22128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8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校园生活规划 Agent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D8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一套代码，三端随行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" y="3429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项目开发分析 · 技术路线 · 创新与交付方案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513892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243653"/>
          </a:solidFill>
          <a:ln w="7620">
            <a:solidFill>
              <a:srgbClr val="24365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1572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ArkUI-X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38528" y="5138928"/>
            <a:ext cx="1481328" cy="256032"/>
          </a:xfrm>
          <a:prstGeom prst="roundRect">
            <a:avLst>
              <a:gd name="adj" fmla="val 28571"/>
            </a:avLst>
          </a:prstGeom>
          <a:solidFill>
            <a:srgbClr val="243653"/>
          </a:solidFill>
          <a:ln w="7620">
            <a:solidFill>
              <a:srgbClr val="24365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51572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+ Tools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5138928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243653"/>
          </a:solidFill>
          <a:ln w="7620">
            <a:solidFill>
              <a:srgbClr val="24365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51572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/ Android / iOS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5916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EA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面向高校学生 ·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1A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1A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从竞赛约束倒推最小可验收产品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每一项要求都对应可演示、可测试、可交付的工程证据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600200"/>
            <a:ext cx="1874520" cy="402336"/>
          </a:xfrm>
          <a:prstGeom prst="rect">
            <a:avLst/>
          </a:prstGeom>
          <a:solidFill>
            <a:srgbClr val="0C1426"/>
          </a:solidFill>
          <a:ln w="7620">
            <a:solidFill>
              <a:srgbClr val="0C142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916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竞赛要求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600200"/>
            <a:ext cx="3465576" cy="402336"/>
          </a:xfrm>
          <a:prstGeom prst="rect">
            <a:avLst/>
          </a:prstGeom>
          <a:solidFill>
            <a:srgbClr val="E8ECF3"/>
          </a:solidFill>
          <a:ln w="7620">
            <a:solidFill>
              <a:srgbClr val="E8ECF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1691640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设计决策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61888" y="1600200"/>
            <a:ext cx="3209544" cy="402336"/>
          </a:xfrm>
          <a:prstGeom prst="rect">
            <a:avLst/>
          </a:prstGeom>
          <a:solidFill>
            <a:srgbClr val="E8ECF3"/>
          </a:solidFill>
          <a:ln w="7620">
            <a:solidFill>
              <a:srgbClr val="E8ECF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691640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可验证证据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2011680"/>
            <a:ext cx="10963656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011680"/>
            <a:ext cx="64008" cy="685800"/>
          </a:xfrm>
          <a:prstGeom prst="rect">
            <a:avLst/>
          </a:prstGeom>
          <a:solidFill>
            <a:srgbClr val="D81E3A"/>
          </a:solidFill>
          <a:ln w="762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1579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跨端交付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651760" y="21305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ArkUI-X 一套 ArkTS 业务代码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126480" y="21305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/ Android / iOS 安装包与运行录屏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11082528" y="2203704"/>
            <a:ext cx="228600" cy="228600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82528" y="221284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" y="2697480"/>
            <a:ext cx="10963656" cy="685800"/>
          </a:xfrm>
          <a:prstGeom prst="rect">
            <a:avLst/>
          </a:prstGeom>
          <a:solidFill>
            <a:srgbClr val="FAFBFD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2697480"/>
            <a:ext cx="64008" cy="685800"/>
          </a:xfrm>
          <a:prstGeom prst="rect">
            <a:avLst/>
          </a:prstGeom>
          <a:solidFill>
            <a:srgbClr val="00A3A3"/>
          </a:solidFill>
          <a:ln w="762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8437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能力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651760" y="28163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多轮任务推进 + 4 类工具调用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126480" y="28163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任务状态、工具调用卡片、执行日志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11082528" y="2889504"/>
            <a:ext cx="228600" cy="228600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82528" y="289864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" y="3383280"/>
            <a:ext cx="10963656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3383280"/>
            <a:ext cx="64008" cy="685800"/>
          </a:xfrm>
          <a:prstGeom prst="rect">
            <a:avLst/>
          </a:prstGeom>
          <a:solidFill>
            <a:srgbClr val="2E69D8"/>
          </a:solidFill>
          <a:ln w="762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5295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2651760" y="35021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可切换模型适配层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126480" y="35021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真实流式对话与降级提示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11082528" y="3575304"/>
            <a:ext cx="228600" cy="228600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82528" y="358444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" y="4069080"/>
            <a:ext cx="10963656" cy="685800"/>
          </a:xfrm>
          <a:prstGeom prst="rect">
            <a:avLst/>
          </a:prstGeom>
          <a:solidFill>
            <a:srgbClr val="FAFBFD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4069080"/>
            <a:ext cx="64008" cy="685800"/>
          </a:xfrm>
          <a:prstGeom prst="rect">
            <a:avLst/>
          </a:prstGeom>
          <a:solidFill>
            <a:srgbClr val="F3A83B"/>
          </a:solidFill>
          <a:ln w="762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153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语音闭环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2651760" y="41879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鸿蒙：ASR → Agent → TTS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126480" y="41879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语音输入、转写、播报的完整演示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11082528" y="4261104"/>
            <a:ext cx="228600" cy="228600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82528" y="427024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" y="4754880"/>
            <a:ext cx="10963656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4754880"/>
            <a:ext cx="64008" cy="685800"/>
          </a:xfrm>
          <a:prstGeom prst="rect">
            <a:avLst/>
          </a:prstGeom>
          <a:solidFill>
            <a:srgbClr val="25A96A"/>
          </a:solidFill>
          <a:ln w="762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49011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本地持久化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2651760" y="48737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会话、偏好、任务快照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6126480" y="48737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三端可回看、可续办、可清除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11082528" y="4946904"/>
            <a:ext cx="228600" cy="228600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82528" y="495604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" y="56692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验收策略：先完成“能跑通”的跨端闭环，再把体验、记忆、RAG 和端侧能力做成可独立展示的加分模块。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命题选择：从“问一句答一句”升级为“替我把事办下去”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聚焦学生高频但碎片化的课程、活动、办事与时间管理场景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901952"/>
            <a:ext cx="329184" cy="329184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1109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9019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学生痛点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41248" y="2304288"/>
            <a:ext cx="20208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日程、DDL、活动与办事入口分散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信息会看，但难以形成可执行计划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临时冲突发生时，不知道先改什么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273552" y="173736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8144" y="1901952"/>
            <a:ext cx="329184" cy="329184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191109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67912" y="19019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474720" y="2304288"/>
            <a:ext cx="20208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校园生活“任务中枢”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理解自然语言目标，分解、查询、提醒并协助确认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不是知识问答，而是可追踪的任务协作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907024" y="173736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901952"/>
            <a:ext cx="329184" cy="329184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91109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01384" y="19019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MVP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108192" y="2304288"/>
            <a:ext cx="20208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“明天下午有空吗？帮我安排完成实验报告，并提醒我预约图书馆。”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输出：计划 + 冲突检查 + 工具执行 + 待确认事项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650224" y="1737360"/>
            <a:ext cx="2880360" cy="3383280"/>
          </a:xfrm>
          <a:prstGeom prst="roundRect">
            <a:avLst>
              <a:gd name="adj" fmla="val 2540"/>
            </a:avLst>
          </a:prstGeom>
          <a:solidFill>
            <a:srgbClr val="0C1426"/>
          </a:solidFill>
          <a:ln w="7620">
            <a:solidFill>
              <a:srgbClr val="0C14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15400" y="2624328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D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一句话目标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D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一份可执行任务流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D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“我已经替你查好、排好，关键动作等你确认。”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15400" y="4480560"/>
            <a:ext cx="548640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4498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D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601200" y="4480560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44988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D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可展示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442448" y="4480560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33888" y="44988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D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演示主线：一个请求，跑出 Agent 的完整“思考—行动—反馈”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用用户可感知的过程代替黑盒回答，突出工具调用与多轮推进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57984"/>
            <a:ext cx="420624" cy="420624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671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7980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表达目标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32369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“明天帮我安排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完成实验报告”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2514600" y="3200400"/>
            <a:ext cx="274320" cy="0"/>
          </a:xfrm>
          <a:prstGeom prst="line">
            <a:avLst/>
          </a:prstGeom>
          <a:noFill/>
          <a:ln w="22860">
            <a:solidFill>
              <a:srgbClr val="A4B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3099816"/>
            <a:ext cx="201168" cy="201168"/>
          </a:xfrm>
          <a:prstGeom prst="chevron">
            <a:avLst/>
          </a:prstGeom>
          <a:solidFill>
            <a:srgbClr val="A4B3C8"/>
          </a:solidFill>
          <a:ln w="12700">
            <a:solidFill>
              <a:srgbClr val="A4B3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96596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4952" y="2157984"/>
            <a:ext cx="420624" cy="420624"/>
          </a:xfrm>
          <a:prstGeom prst="ellipse">
            <a:avLst/>
          </a:prstGeom>
          <a:solidFill>
            <a:srgbClr val="7457D9"/>
          </a:solidFill>
          <a:ln w="1270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21671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7980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澄清约束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2369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追问截止时间、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可用时段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828032" y="3200400"/>
            <a:ext cx="274320" cy="0"/>
          </a:xfrm>
          <a:prstGeom prst="line">
            <a:avLst/>
          </a:prstGeom>
          <a:noFill/>
          <a:ln w="22860">
            <a:solidFill>
              <a:srgbClr val="A4B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3099816"/>
            <a:ext cx="201168" cy="201168"/>
          </a:xfrm>
          <a:prstGeom prst="chevron">
            <a:avLst/>
          </a:prstGeom>
          <a:solidFill>
            <a:srgbClr val="A4B3C8"/>
          </a:solidFill>
          <a:ln w="12700">
            <a:solidFill>
              <a:srgbClr val="A4B3C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3792" y="196596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2157984"/>
            <a:ext cx="420624" cy="420624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21671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76672" y="27980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76672" y="32369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查询日历 / 场地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截止事项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7141464" y="3200400"/>
            <a:ext cx="274320" cy="0"/>
          </a:xfrm>
          <a:prstGeom prst="line">
            <a:avLst/>
          </a:prstGeom>
          <a:noFill/>
          <a:ln w="22860">
            <a:solidFill>
              <a:srgbClr val="A4B3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87768" y="3099816"/>
            <a:ext cx="201168" cy="201168"/>
          </a:xfrm>
          <a:prstGeom prst="chevron">
            <a:avLst/>
          </a:prstGeom>
          <a:solidFill>
            <a:srgbClr val="A4B3C8"/>
          </a:solidFill>
          <a:ln w="12700">
            <a:solidFill>
              <a:srgbClr val="A4B3C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7224" y="196596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16" y="2157984"/>
            <a:ext cx="420624" cy="420624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1816" y="21671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90104" y="27980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生成计划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90104" y="32369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拆分任务、避开冲突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给出候选方案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9454896" y="3200400"/>
            <a:ext cx="274320" cy="0"/>
          </a:xfrm>
          <a:prstGeom prst="line">
            <a:avLst/>
          </a:prstGeom>
          <a:noFill/>
          <a:ln w="22860">
            <a:solidFill>
              <a:srgbClr val="A4B3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3099816"/>
            <a:ext cx="201168" cy="201168"/>
          </a:xfrm>
          <a:prstGeom prst="chevron">
            <a:avLst/>
          </a:prstGeom>
          <a:solidFill>
            <a:srgbClr val="A4B3C8"/>
          </a:solidFill>
          <a:ln w="12700">
            <a:solidFill>
              <a:srgbClr val="A4B3C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0656" y="196596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85248" y="2157984"/>
            <a:ext cx="420624" cy="420624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85248" y="216712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03536" y="27980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确认执行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03536" y="32369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写入日程、设置提醒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保留可撤销入口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667512" y="5056632"/>
            <a:ext cx="10853928" cy="667512"/>
          </a:xfrm>
          <a:prstGeom prst="roundRect">
            <a:avLst>
              <a:gd name="adj" fmla="val 10959"/>
            </a:avLst>
          </a:prstGeom>
          <a:solidFill>
            <a:srgbClr val="E9F3F7"/>
          </a:solidFill>
          <a:ln w="7620">
            <a:solidFill>
              <a:srgbClr val="CDE5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" y="5239512"/>
            <a:ext cx="274320" cy="274320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" y="52486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98448" y="525780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可观测设计：每轮显示“正在查询 / 已找到冲突 / 等待确认”，工具调用失败时给出重试或人工接管选项。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功能蓝图：先用 4 个工具形成闭环，再按场景增量扩展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的边界明确，功能均可映射到演示、测试与数据模型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0078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947672"/>
            <a:ext cx="411480" cy="411480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568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44752" y="19476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对话与任务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流式多轮对话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任务状态机 / 待确认清单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434840" y="170078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947672"/>
            <a:ext cx="411480" cy="411480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568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21224" y="19476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日程查询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空闲时段 / 冲突检测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本地日历与课程表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8211312" y="170078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9912" y="1947672"/>
            <a:ext cx="411480" cy="411480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9568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97696" y="19476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计划生成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67344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 / 时长估算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优先级与备选方案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58368" y="371246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" y="3959352"/>
            <a:ext cx="411480" cy="411480"/>
          </a:xfrm>
          <a:prstGeom prst="ellipse">
            <a:avLst/>
          </a:prstGeom>
          <a:solidFill>
            <a:srgbClr val="F3A83B"/>
          </a:solidFill>
          <a:ln w="1270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9684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44752" y="39593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提醒执行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创建提醒 / 任务卡片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可撤销、可续办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4434840" y="371246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959352"/>
            <a:ext cx="411480" cy="411480"/>
          </a:xfrm>
          <a:prstGeom prst="ellipse">
            <a:avLst/>
          </a:prstGeom>
          <a:solidFill>
            <a:srgbClr val="7457D9"/>
          </a:solidFill>
          <a:ln w="1270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9684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21224" y="39593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记忆与回看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90872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会话历史 / 偏好摘要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本地持久化与检索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211312" y="371246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39912" y="3959352"/>
            <a:ext cx="411480" cy="411480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9912" y="39684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97696" y="39593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语音交互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67344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ASR → Agent → TTS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Android/iOS 作为扩展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一页架构：端侧体验统一，云端 Agent 可演进，数据边界清晰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“跨端 UI + 平台适配 + Agent 编排 + 工具与模型”四层分离，降低换端与换模型成本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D81E3A"/>
          </a:solidFill>
          <a:ln w="762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196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29968" y="160020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1719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ArkUI-X UI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/ 任务卡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193792" y="160020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096" y="1719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语音入口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357616" y="160020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719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/ iOS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文本与通知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00A3A3"/>
          </a:solidFill>
          <a:ln w="762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825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跨端服务层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29968" y="2606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724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ArkTS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状态与业务逻辑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193792" y="2606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2724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Bridge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 / 通知 / 存储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2E69D8"/>
          </a:solidFill>
          <a:ln w="762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968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编排层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29968" y="3749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3867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&amp; Memory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/ 偏好摘要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193792" y="3749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0096" y="3867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 / 拆解 / 路由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357616" y="3749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867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Executor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重试 / 审计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7457D9"/>
          </a:solidFill>
          <a:ln w="762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云端与数据层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029968" y="4892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6272" y="5010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Adapter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云端模型可切换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5193792" y="4892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0096" y="5010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 / 待办 / RAG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357616" y="489204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50109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Store / 加密缓存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2029968" y="2359152"/>
            <a:ext cx="8897112" cy="0"/>
          </a:xfrm>
          <a:prstGeom prst="line">
            <a:avLst/>
          </a:prstGeom>
          <a:noFill/>
          <a:ln w="13970">
            <a:solidFill>
              <a:srgbClr val="00A3A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9875520" y="222199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00A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端侧统一代码边界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设计：以状态机约束大模型，以工具协议保证可执行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模型负责理解与规划，系统负责校验、权限、执行和可恢复性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2468880"/>
            <a:ext cx="1115568" cy="111556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770632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输入理解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21992" y="3026664"/>
            <a:ext cx="612648" cy="0"/>
          </a:xfrm>
          <a:prstGeom prst="line">
            <a:avLst/>
          </a:prstGeom>
          <a:noFill/>
          <a:ln w="22860">
            <a:solidFill>
              <a:srgbClr val="A6B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06624" y="2926080"/>
            <a:ext cx="201168" cy="201168"/>
          </a:xfrm>
          <a:prstGeom prst="chevron">
            <a:avLst/>
          </a:prstGeom>
          <a:solidFill>
            <a:srgbClr val="A6B4C6"/>
          </a:solidFill>
          <a:ln w="12700">
            <a:solidFill>
              <a:srgbClr val="A6B4C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468880"/>
            <a:ext cx="1115568" cy="1115568"/>
          </a:xfrm>
          <a:prstGeom prst="ellipse">
            <a:avLst/>
          </a:prstGeom>
          <a:solidFill>
            <a:srgbClr val="7457D9"/>
          </a:solidFill>
          <a:ln w="1270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770632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信息足够？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6512" y="3026664"/>
            <a:ext cx="841248" cy="0"/>
          </a:xfrm>
          <a:prstGeom prst="line">
            <a:avLst/>
          </a:prstGeom>
          <a:noFill/>
          <a:ln w="22860">
            <a:solidFill>
              <a:srgbClr val="A6B4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2926080"/>
            <a:ext cx="201168" cy="201168"/>
          </a:xfrm>
          <a:prstGeom prst="chevron">
            <a:avLst/>
          </a:prstGeom>
          <a:solidFill>
            <a:srgbClr val="A6B4C6"/>
          </a:solidFill>
          <a:ln w="12700">
            <a:solidFill>
              <a:srgbClr val="A6B4C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468880"/>
            <a:ext cx="1115568" cy="1115568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770632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/ 选工具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3026664"/>
            <a:ext cx="932688" cy="0"/>
          </a:xfrm>
          <a:prstGeom prst="line">
            <a:avLst/>
          </a:prstGeom>
          <a:noFill/>
          <a:ln w="22860">
            <a:solidFill>
              <a:srgbClr val="A6B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04304" y="2926080"/>
            <a:ext cx="201168" cy="201168"/>
          </a:xfrm>
          <a:prstGeom prst="chevron">
            <a:avLst/>
          </a:prstGeom>
          <a:solidFill>
            <a:srgbClr val="A6B4C6"/>
          </a:solidFill>
          <a:ln w="12700">
            <a:solidFill>
              <a:srgbClr val="A6B4C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468880"/>
            <a:ext cx="1115568" cy="1115568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2770632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执行与校验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94192" y="3026664"/>
            <a:ext cx="914400" cy="0"/>
          </a:xfrm>
          <a:prstGeom prst="line">
            <a:avLst/>
          </a:prstGeom>
          <a:noFill/>
          <a:ln w="22860">
            <a:solidFill>
              <a:srgbClr val="A6B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0576" y="2926080"/>
            <a:ext cx="201168" cy="201168"/>
          </a:xfrm>
          <a:prstGeom prst="chevron">
            <a:avLst/>
          </a:prstGeom>
          <a:solidFill>
            <a:srgbClr val="A6B4C6"/>
          </a:solidFill>
          <a:ln w="12700">
            <a:solidFill>
              <a:srgbClr val="A6B4C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0032" y="2468880"/>
            <a:ext cx="1115568" cy="1115568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3184" y="2770632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答复 / 待确认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3575304"/>
            <a:ext cx="0" cy="585216"/>
          </a:xfrm>
          <a:prstGeom prst="line">
            <a:avLst/>
          </a:prstGeom>
          <a:noFill/>
          <a:ln w="15240">
            <a:solidFill>
              <a:srgbClr val="7457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4160520"/>
            <a:ext cx="-2139696" cy="0"/>
          </a:xfrm>
          <a:prstGeom prst="line">
            <a:avLst/>
          </a:prstGeom>
          <a:noFill/>
          <a:ln w="15240">
            <a:solidFill>
              <a:srgbClr val="7457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9344" y="4160520"/>
            <a:ext cx="0" cy="-502920"/>
          </a:xfrm>
          <a:prstGeom prst="line">
            <a:avLst/>
          </a:prstGeom>
          <a:noFill/>
          <a:ln w="22860">
            <a:solidFill>
              <a:srgbClr val="7457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81328" y="3557016"/>
            <a:ext cx="201168" cy="201168"/>
          </a:xfrm>
          <a:prstGeom prst="chevron">
            <a:avLst/>
          </a:prstGeom>
          <a:solidFill>
            <a:srgbClr val="7457D9"/>
          </a:solidFill>
          <a:ln w="1270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3159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45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缺少时间 / 偏好 → 多轮澄清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914400" y="4864608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502920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Schema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1115568" y="5431536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参数校验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白名单工具与参数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617720" y="4864608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502920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Guard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4818888" y="5431536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高风险写操作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必须显式确认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8321040" y="4864608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502920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8522208" y="5431536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记录计划、调用、错误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便于复盘与答辩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跨端工程路线：目标共享 ≥80% 业务代码，原生能力通过桥接按需增强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以统一接口隔离平台差异；三端都能交付，鸿蒙端把语音链路做深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691640"/>
            <a:ext cx="2487168" cy="3474720"/>
          </a:xfrm>
          <a:prstGeom prst="roundRect">
            <a:avLst>
              <a:gd name="adj" fmla="val 2941"/>
            </a:avLst>
          </a:prstGeom>
          <a:solidFill>
            <a:srgbClr val="0C1426"/>
          </a:solidFill>
          <a:ln w="7620">
            <a:solidFill>
              <a:srgbClr val="0C142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65960"/>
            <a:ext cx="429768" cy="42976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75104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" y="2633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3310128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ArkUI-X / ArkTS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UI、状态管理、对话、任务、网络、模型适配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9536" y="4617720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636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83864" y="1691640"/>
            <a:ext cx="2487168" cy="3474720"/>
          </a:xfrm>
          <a:prstGeom prst="roundRect">
            <a:avLst>
              <a:gd name="adj" fmla="val 2941"/>
            </a:avLst>
          </a:prstGeom>
          <a:solidFill>
            <a:srgbClr val="D81E3A"/>
          </a:solidFill>
          <a:ln w="762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9896" y="1965960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1975104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39896" y="2633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39896" y="3310128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ASR、TTS、通知、KV 存储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重点演示：语音任务推进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39896" y="4617720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4636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平台实现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64224" y="1691640"/>
            <a:ext cx="2487168" cy="3474720"/>
          </a:xfrm>
          <a:prstGeom prst="roundRect">
            <a:avLst>
              <a:gd name="adj" fmla="val 2941"/>
            </a:avLst>
          </a:prstGeom>
          <a:solidFill>
            <a:srgbClr val="25A96A"/>
          </a:solidFill>
          <a:ln w="762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0256" y="1965960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1975104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2633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0256" y="3310128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安装包、文本对话、本地会话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可选：语音与推送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0256" y="4617720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4636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平台实现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44584" y="1691640"/>
            <a:ext cx="2487168" cy="3474720"/>
          </a:xfrm>
          <a:prstGeom prst="roundRect">
            <a:avLst>
              <a:gd name="adj" fmla="val 2941"/>
            </a:avLst>
          </a:prstGeom>
          <a:solidFill>
            <a:srgbClr val="2E69D8"/>
          </a:solidFill>
          <a:ln w="762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0616" y="1965960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0616" y="1975104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00616" y="2633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00616" y="3310128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安装包、文本对话、本地会话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可选：语音与推送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00616" y="4617720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92056" y="4636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平台实现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5800" y="57150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工程约定：domain 不依赖平台 API；platform 只暴露 VoiceService、StorageService、NotificationService 三组能力；每组提供 mock 以支撑三端测试。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记忆与隐私：最小化存储、可解释调用、用户可控清除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把“能记住”做成可控能力，而不是不可见的数据积累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746504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556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70078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会话历史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0299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KV Store；按会话分区；可回看与删除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749808" y="2798064"/>
            <a:ext cx="384048" cy="384048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072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75234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偏好摘要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815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仅保留用户确认的偏好；不上传原始敏感内容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749808" y="3849624"/>
            <a:ext cx="384048" cy="384048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8587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380390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任务快照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133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保存计划状态与工具结果；支持中断后继续办理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10528" y="1600200"/>
            <a:ext cx="4956048" cy="3429000"/>
          </a:xfrm>
          <a:prstGeom prst="roundRect">
            <a:avLst>
              <a:gd name="adj" fmla="val 2133"/>
            </a:avLst>
          </a:prstGeom>
          <a:solidFill>
            <a:srgbClr val="0C1426"/>
          </a:solidFill>
          <a:ln w="7620">
            <a:solidFill>
              <a:srgbClr val="0C142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调用安全闸门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2450592"/>
            <a:ext cx="246888" cy="24688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459736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251192" y="2441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ED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工具白名单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8275320" y="2441448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B7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仅允许日历、待办、知识检索等已注册工具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858000" y="2971800"/>
            <a:ext cx="246888" cy="24688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980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251192" y="29626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ED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参数校验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8275320" y="2962656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B7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时间、任务内容、权限范围先校验再执行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6858000" y="3493008"/>
            <a:ext cx="246888" cy="24688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502152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251192" y="34838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ED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显式确认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275320" y="3483864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B7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创建日程、外部写入等操作需用户确认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6858000" y="4014216"/>
            <a:ext cx="246888" cy="24688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023360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51192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ED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调用审计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8275320" y="4005072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B7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记录请求、结果、错误码，答辩可追溯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685800" y="5413248"/>
            <a:ext cx="10808208" cy="438912"/>
          </a:xfrm>
          <a:prstGeom prst="roundRect">
            <a:avLst>
              <a:gd name="adj" fmla="val 16667"/>
            </a:avLst>
          </a:prstGeom>
          <a:solidFill>
            <a:srgbClr val="FFF3E7"/>
          </a:solidFill>
          <a:ln w="7620">
            <a:solidFill>
              <a:srgbClr val="F7D4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555040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5B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设计原则：模型看见的是完成任务所需的最少上下文；用户对“记住什么、执行什么、保留多久”拥有可见控制权。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F18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创新点：把竞赛加分项嵌入主链路，而不是附加装饰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F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可在答辩中用“问题—设计—可见效果”逐项说明价值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230368" cy="1664208"/>
          </a:xfrm>
          <a:prstGeom prst="roundRect">
            <a:avLst>
              <a:gd name="adj" fmla="val 4396"/>
            </a:avLst>
          </a:prstGeom>
          <a:solidFill>
            <a:srgbClr val="16233A"/>
          </a:solidFill>
          <a:ln w="7620">
            <a:solidFill>
              <a:srgbClr val="3141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01952"/>
            <a:ext cx="475488" cy="47548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110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任务可视化推演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5D0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Agent 的澄清、计划、调用与确认转换为任务卡与状态轨迹，用户随时知道系统在做什么。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30368" cy="1664208"/>
          </a:xfrm>
          <a:prstGeom prst="roundRect">
            <a:avLst>
              <a:gd name="adj" fmla="val 4396"/>
            </a:avLst>
          </a:prstGeom>
          <a:solidFill>
            <a:srgbClr val="16233A"/>
          </a:solidFill>
          <a:ln w="7620">
            <a:solidFill>
              <a:srgbClr val="3141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901952"/>
            <a:ext cx="475488" cy="475488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91109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50608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模型适配层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92240" y="24871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5D0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Chat / Stream / ToolCall 协议；可快速切换云端模型，避免业务逻辑绑定单一厂商。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730752"/>
            <a:ext cx="5230368" cy="1664208"/>
          </a:xfrm>
          <a:prstGeom prst="roundRect">
            <a:avLst>
              <a:gd name="adj" fmla="val 4396"/>
            </a:avLst>
          </a:prstGeom>
          <a:solidFill>
            <a:srgbClr val="16233A"/>
          </a:solidFill>
          <a:ln w="7620">
            <a:solidFill>
              <a:srgbClr val="3141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986784"/>
            <a:ext cx="475488" cy="475488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959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72768" y="39867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轻量记忆 + RAG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5D0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会话摘要保存长期偏好；校园 FAQ 建立可检索知识包，回答附带来源类别。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17920" y="3730752"/>
            <a:ext cx="5230368" cy="1664208"/>
          </a:xfrm>
          <a:prstGeom prst="roundRect">
            <a:avLst>
              <a:gd name="adj" fmla="val 4396"/>
            </a:avLst>
          </a:prstGeom>
          <a:solidFill>
            <a:srgbClr val="16233A"/>
          </a:solidFill>
          <a:ln w="7620">
            <a:solidFill>
              <a:srgbClr val="3141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3986784"/>
            <a:ext cx="475488" cy="475488"/>
          </a:xfrm>
          <a:prstGeom prst="ellipse">
            <a:avLst/>
          </a:prstGeom>
          <a:solidFill>
            <a:srgbClr val="F3A83B"/>
          </a:solidFill>
          <a:ln w="1270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9959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50608" y="39867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确认式执行安全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4572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5D0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把“建议”和“写入动作”隔离；高影响操作前以卡片呈现参数，支持取消与回滚。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85800" y="60350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FCB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加分策略优先级：交互体验（必投入） → 语音闭环（鸿蒙必做） → 记忆/RAG → Android/iOS 语音 → 端侧能力深化。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1A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1A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周开发节奏：以跨端闭环为里程碑，避免最后才集成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每两周产出一个可演示版本；需求、代码、测试、视频同步沉淀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3182112"/>
            <a:ext cx="10149840" cy="0"/>
          </a:xfrm>
          <a:prstGeom prst="line">
            <a:avLst/>
          </a:prstGeom>
          <a:noFill/>
          <a:ln w="25400">
            <a:solidFill>
              <a:srgbClr val="B9C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871216"/>
            <a:ext cx="621792" cy="621792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880360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148132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6276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W1–2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18928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定义与原型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877824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场景、用户旅程、UI 线框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模型与工具协议 POC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127248" y="2871216"/>
            <a:ext cx="621792" cy="621792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2880360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24328" y="37033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52344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W3–5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52344" y="4105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跨端骨架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2752344" y="43891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ArkUI-X 三端跑通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对话、会话存储、模型接入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001768" y="2871216"/>
            <a:ext cx="621792" cy="621792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880360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98848" y="148132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6276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W6–8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26864" y="18928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MVP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4626864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澄清、多轮状态机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 / 待办 / 提醒工具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876288" y="2871216"/>
            <a:ext cx="621792" cy="621792"/>
          </a:xfrm>
          <a:prstGeom prst="ellipse">
            <a:avLst/>
          </a:prstGeom>
          <a:solidFill>
            <a:srgbClr val="7457D9"/>
          </a:solidFill>
          <a:ln w="1270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2880360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73368" y="37033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5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W9–11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01384" y="4105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鸿蒙深化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6501384" y="43891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→ Agent → TTS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动效、任务轨迹、异常恢复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750808" y="2871216"/>
            <a:ext cx="621792" cy="621792"/>
          </a:xfrm>
          <a:prstGeom prst="ellipse">
            <a:avLst/>
          </a:prstGeom>
          <a:solidFill>
            <a:srgbClr val="F3A83B"/>
          </a:solidFill>
          <a:ln w="1270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0808" y="2880360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47888" y="148132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75904" y="16276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A8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W12–14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75904" y="18928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加分模块</a:t>
            </a:r>
            <a:endParaRPr lang="en-US" sz="1160" dirty="0"/>
          </a:p>
        </p:txBody>
      </p:sp>
      <p:sp>
        <p:nvSpPr>
          <p:cNvPr id="37" name="Text 35"/>
          <p:cNvSpPr/>
          <p:nvPr/>
        </p:nvSpPr>
        <p:spPr>
          <a:xfrm>
            <a:off x="8375904" y="217627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/ RAG、模型适配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Android/iOS 语音可选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0625328" y="2871216"/>
            <a:ext cx="621792" cy="621792"/>
          </a:xfrm>
          <a:prstGeom prst="ellipse">
            <a:avLst/>
          </a:prstGeom>
          <a:solidFill>
            <a:srgbClr val="25A96A"/>
          </a:solidFill>
          <a:ln w="12700">
            <a:solidFill>
              <a:srgbClr val="25A96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25328" y="2880360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122408" y="37033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50424" y="3840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W15–16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250424" y="4105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验收与答辩</a:t>
            </a:r>
            <a:endParaRPr lang="en-US" sz="1160" dirty="0"/>
          </a:p>
        </p:txBody>
      </p:sp>
      <p:sp>
        <p:nvSpPr>
          <p:cNvPr id="43" name="Text 41"/>
          <p:cNvSpPr/>
          <p:nvPr/>
        </p:nvSpPr>
        <p:spPr>
          <a:xfrm>
            <a:off x="10250424" y="43891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三端回归、录屏、文档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架构图、演示脚本、PPT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13232" y="589788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 Gate：W5 三端可安装 · W8 可演示工具调用 · W11 鸿蒙语音闭环 · W14 加分项冻结 · W16 交付物齐套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验收与测试：把“能演示”转化为可复现的验证清单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三端真机回归 + Agent 工具回归 + 异常路径演练，避免只在开发机上成立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401568" cy="3566160"/>
          </a:xfrm>
          <a:prstGeom prst="roundRect">
            <a:avLst>
              <a:gd name="adj" fmla="val 21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91640"/>
            <a:ext cx="3401568" cy="594360"/>
          </a:xfrm>
          <a:prstGeom prst="roundRect">
            <a:avLst>
              <a:gd name="adj" fmla="val 12308"/>
            </a:avLst>
          </a:prstGeom>
          <a:solidFill>
            <a:srgbClr val="D81E3A"/>
          </a:solidFill>
          <a:ln w="762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83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跨端真机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615184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24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16736" y="26334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三端安装、启动、登录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009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16736" y="33101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三端多轮文本对话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14400" y="3968496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16736" y="398678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会话退出后可回看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471416" y="1691640"/>
            <a:ext cx="3401568" cy="3566160"/>
          </a:xfrm>
          <a:prstGeom prst="roundRect">
            <a:avLst>
              <a:gd name="adj" fmla="val 21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1416" y="1691640"/>
            <a:ext cx="3401568" cy="594360"/>
          </a:xfrm>
          <a:prstGeom prst="roundRect">
            <a:avLst>
              <a:gd name="adj" fmla="val 12308"/>
            </a:avLst>
          </a:prstGeom>
          <a:solidFill>
            <a:srgbClr val="00A3A3"/>
          </a:solidFill>
          <a:ln w="762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883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正确性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27448" y="2615184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2624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9784" y="26334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多轮澄清满足约束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727448" y="3291840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3009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9784" y="33101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工具参数与结果可见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727448" y="3968496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9776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9784" y="398678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失败重试与人工接管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84464" y="1691640"/>
            <a:ext cx="3401568" cy="3566160"/>
          </a:xfrm>
          <a:prstGeom prst="roundRect">
            <a:avLst>
              <a:gd name="adj" fmla="val 2151"/>
            </a:avLst>
          </a:prstGeom>
          <a:solidFill>
            <a:srgbClr val="FAFBFE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1691640"/>
            <a:ext cx="3401568" cy="594360"/>
          </a:xfrm>
          <a:prstGeom prst="roundRect">
            <a:avLst>
              <a:gd name="adj" fmla="val 12308"/>
            </a:avLst>
          </a:prstGeom>
          <a:solidFill>
            <a:srgbClr val="2E69D8"/>
          </a:solidFill>
          <a:ln w="762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13064" y="18836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语音与体验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540496" y="2615184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2624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42832" y="26334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 ASR / TTS 全链路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540496" y="3291840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33009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42832" y="33101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流式状态与加载反馈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540496" y="3968496"/>
            <a:ext cx="256032" cy="256032"/>
          </a:xfrm>
          <a:prstGeom prst="ellipse">
            <a:avLst/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0496" y="39776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42832" y="398678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关键操作二次确认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85800" y="5577840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0C1426"/>
          </a:solidFill>
          <a:ln w="7620">
            <a:solidFill>
              <a:srgbClr val="0C142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5696712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演示口径：同一任务在三端均完成文本闭环；鸿蒙端额外展示“语音输入—澄清—工具执行—语音播报”；全程保留任务轨迹。</a:t>
            </a:r>
            <a:endParaRPr lang="en-US" sz="101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工程交付包：让评委既能看懂，也能按文档复现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交付物按“代码—安装—架构—演示—测试”闭环组织，工程信息透明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709928"/>
            <a:ext cx="329184" cy="329184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190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90472" y="1719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源代码仓库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apps / shared / platform / docs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清晰的模块边界与 README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10222992" y="173736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CE7EC"/>
          </a:solidFill>
          <a:ln w="7620">
            <a:solidFill>
              <a:srgbClr val="FCE7E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14432" y="1755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必交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2395728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2551176"/>
            <a:ext cx="329184" cy="329184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56032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90472" y="25603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三端安装包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200400" y="250545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HarmonyOS、Android、iOS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版本号、设备要求、安装说明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10222992" y="257860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F0F7"/>
          </a:solidFill>
          <a:ln w="762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2596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验收证据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236976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3392424"/>
            <a:ext cx="329184" cy="329184"/>
          </a:xfrm>
          <a:prstGeom prst="ellipse">
            <a:avLst/>
          </a:prstGeom>
          <a:solidFill>
            <a:srgbClr val="2E69D8"/>
          </a:solidFill>
          <a:ln w="1270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4015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90472" y="34015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一页架构图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3200400" y="33467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跨端层、Agent 层、工具层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数据流、权限流、异常流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10222992" y="341985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F0F7"/>
          </a:solidFill>
          <a:ln w="762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14432" y="34381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验收证据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4078224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4233672"/>
            <a:ext cx="329184" cy="329184"/>
          </a:xfrm>
          <a:prstGeom prst="ellipse">
            <a:avLst/>
          </a:prstGeom>
          <a:solidFill>
            <a:srgbClr val="7457D9"/>
          </a:solidFill>
          <a:ln w="1270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2428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90472" y="42428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演示材料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3200400" y="41879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3–5 分钟录屏、答辩 PPT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脚本、任务案例与截图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10222992" y="426110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F0F7"/>
          </a:solidFill>
          <a:ln w="762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4432" y="42793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验收证据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5800" y="4919472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" y="5074920"/>
            <a:ext cx="329184" cy="329184"/>
          </a:xfrm>
          <a:prstGeom prst="ellipse">
            <a:avLst/>
          </a:prstGeom>
          <a:solidFill>
            <a:srgbClr val="F3A83B"/>
          </a:solidFill>
          <a:ln w="1270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0840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490472" y="50840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测试证据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3200400" y="50292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真机清单、用例、日志摘要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关键异常与处理说明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10222992" y="510235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F0F7"/>
          </a:solidFill>
          <a:ln w="762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14432" y="5120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加分保障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D8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关键风险：提前做“可替换、可降级、可解释”的工程设计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风险不回避，而是通过边界清晰的架构与演示预案把影响收敛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92840" y="393192"/>
            <a:ext cx="384048" cy="384048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4023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60020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D81E3A"/>
          </a:solidFill>
          <a:ln w="762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73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跨端构建差异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8211312" cy="566928"/>
          </a:xfrm>
          <a:prstGeom prst="roundRect">
            <a:avLst>
              <a:gd name="adj" fmla="val 12903"/>
            </a:avLst>
          </a:prstGeom>
          <a:solidFill>
            <a:srgbClr val="F8FAFD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64792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 前先跑 Hello、网络、存储三项 POC；平台能力通过接口隔离。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713232" y="2459736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00A3A3"/>
          </a:solidFill>
          <a:ln w="762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模型网络不稳定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3246120" y="2459736"/>
            <a:ext cx="8211312" cy="566928"/>
          </a:xfrm>
          <a:prstGeom prst="roundRect">
            <a:avLst>
              <a:gd name="adj" fmla="val 12903"/>
            </a:avLst>
          </a:prstGeom>
          <a:solidFill>
            <a:srgbClr val="F8FAFD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624328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流式超时、重试、错误态与备用模型；录屏准备可复现实例。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13232" y="331927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2E69D8"/>
          </a:solidFill>
          <a:ln w="7620">
            <a:solidFill>
              <a:srgbClr val="2E69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4930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工具调用不可靠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3246120" y="3319272"/>
            <a:ext cx="8211312" cy="566928"/>
          </a:xfrm>
          <a:prstGeom prst="roundRect">
            <a:avLst>
              <a:gd name="adj" fmla="val 12903"/>
            </a:avLst>
          </a:prstGeom>
          <a:solidFill>
            <a:srgbClr val="F8FAFD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483864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Schema 校验、幂等设计、失败说明与人工确认入口。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13232" y="417880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7457D9"/>
          </a:solidFill>
          <a:ln w="7620">
            <a:solidFill>
              <a:srgbClr val="7457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352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语音链路延迟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3246120" y="4178808"/>
            <a:ext cx="8211312" cy="566928"/>
          </a:xfrm>
          <a:prstGeom prst="roundRect">
            <a:avLst>
              <a:gd name="adj" fmla="val 12903"/>
            </a:avLst>
          </a:prstGeom>
          <a:solidFill>
            <a:srgbClr val="F8FAFD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4343400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分段展示 ASR / 思考 / TTS 状态；文本输入始终作为保底路径。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713232" y="5038344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3A83B"/>
          </a:solidFill>
          <a:ln w="762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212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功能范围膨胀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3246120" y="5038344"/>
            <a:ext cx="8211312" cy="566928"/>
          </a:xfrm>
          <a:prstGeom prst="roundRect">
            <a:avLst>
              <a:gd name="adj" fmla="val 12903"/>
            </a:avLst>
          </a:prstGeom>
          <a:solidFill>
            <a:srgbClr val="F8FAFD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5202936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工具锁定 4 个；加分模块独立开关，不影响主链路验收。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713232" y="5897880"/>
            <a:ext cx="10744200" cy="283464"/>
          </a:xfrm>
          <a:prstGeom prst="roundRect">
            <a:avLst>
              <a:gd name="adj" fmla="val 25806"/>
            </a:avLst>
          </a:prstGeom>
          <a:solidFill>
            <a:srgbClr val="EDF5F4"/>
          </a:solidFill>
          <a:ln w="7620">
            <a:solidFill>
              <a:srgbClr val="D3EA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5961888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6B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控制原则：任何加分能力失败，都不应阻断“三端文本 + 鸿蒙语音 + 工具调用 + 本地会话”的主验收闭环。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65008" y="1005840"/>
            <a:ext cx="2852928" cy="2852928"/>
          </a:xfrm>
          <a:prstGeom prst="ellipse">
            <a:avLst/>
          </a:prstGeom>
          <a:solidFill>
            <a:srgbClr val="162B49"/>
          </a:solidFill>
          <a:ln w="12700">
            <a:solidFill>
              <a:srgbClr val="162B4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719072"/>
            <a:ext cx="1426464" cy="1426464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1728216"/>
            <a:ext cx="14264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88352" y="4553712"/>
            <a:ext cx="3474720" cy="0"/>
          </a:xfrm>
          <a:prstGeom prst="line">
            <a:avLst/>
          </a:prstGeom>
          <a:noFill/>
          <a:ln w="19050">
            <a:solidFill>
              <a:srgbClr val="3448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4983480"/>
            <a:ext cx="530352" cy="530352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499262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565099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842248" y="4983480"/>
            <a:ext cx="530352" cy="530352"/>
          </a:xfrm>
          <a:prstGeom prst="ellipse">
            <a:avLst/>
          </a:prstGeom>
          <a:solidFill>
            <a:srgbClr val="D81E3A"/>
          </a:solidFill>
          <a:ln w="12700">
            <a:solidFill>
              <a:srgbClr val="D81E3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42248" y="499262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59368" y="565099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186416" y="4983480"/>
            <a:ext cx="530352" cy="530352"/>
          </a:xfrm>
          <a:prstGeom prst="ellipse">
            <a:avLst/>
          </a:prstGeom>
          <a:solidFill>
            <a:srgbClr val="F3A83B"/>
          </a:solidFill>
          <a:ln w="12700">
            <a:solidFill>
              <a:srgbClr val="F3A83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86416" y="499262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03536" y="565099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E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1170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5800" y="1993392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E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用一套代码，交付三端可运行的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9E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校园任务协作 Agent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336499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最短路径：先把主验收闭环跑稳，再把体验、语音、记忆与 RAG 做成看得见的创新。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480060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818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81328" y="480060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2768" y="48188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23744" y="480060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48188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鸿蒙语音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66160" y="480060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63B5D"/>
          </a:solidFill>
          <a:ln w="7620">
            <a:solidFill>
              <a:srgbClr val="263B5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8188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3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工程交付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3232" y="5925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18A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1A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CampusFlow · 华为跨端 AI Agent 参赛方案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1A0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CampusFlow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CampusFlow 跨端 AI Agent 项目开发分析</dc:title>
  <dc:subject>华为跨端 AI Agent 项目开发分析</dc:subject>
  <dc:creator>CampusFlow Team</dc:creator>
  <cp:lastModifiedBy>CampusFlow Team</cp:lastModifiedBy>
  <cp:revision>1</cp:revision>
  <dcterms:created xsi:type="dcterms:W3CDTF">2026-09-21T05:36:48Z</dcterms:created>
  <dcterms:modified xsi:type="dcterms:W3CDTF">2026-09-21T05:36:48Z</dcterms:modified>
</cp:coreProperties>
</file>